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everything on the stack. MemPalace is the NEW top layer — the memory of our work — sitting on top of the Graphify code-graph we already use. Rules (CLAUDE.md) are the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reframe: they are complementary. Graphify = structure of the code. MemPalace = episodic memory of the project. Read the SAY line to close the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point: MemPalace attacks a DIFFERENT token sink than Graphify (code re-reads vs re-loading history). Be honest — Copilot local memory ALSO caps loading (first 200 lines), so the win isn’t “loads less”. It’s WHAT loads: relevance + search-by-meaning vs a blunt line cutoff, and it scales when history outgrows a cap. Flag the ~170 / ~30x numbers as vendor 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Separate rules from memory first: copilot-instructions is not memory — it is our CLAUDE.md. Then the real head-to-head is Copilot LOCAL memory vs MemPalace, and BOTH are local — so drop cloud-vs-local and 28-day expiry. The honest difference is recall (first-200-lines vs search-by-meaning), full text vs notes, scale, and any-agent via MCP. The footnote pre-empts the “but what about Copilot Memory?” question about the cloud feature.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buys credibility. Naming the weak spots unprompted makes the rest of the pitch trustworthy. End on “measure on our own workload”.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two layers, one goal — the agent loads less and remembers more. Concrete next step is to benchmark on our repo, not to adopt blindly.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BROWNBAG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1691640"/>
            <a:ext cx="5669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B98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MemPalace</a:t>
            </a:r>
            <a:pPr indent="0" marL="0">
              <a:lnSpc>
                <a:spcPct val="98000"/>
              </a:lnSpc>
              <a:buNone/>
            </a:pPr>
            <a:endParaRPr lang="en-US" sz="4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top of Graphify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85800" y="397764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is, why it saves tokens, and how it differs from what we already run.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12280" y="118872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12280" y="1600200"/>
            <a:ext cx="4709160" cy="1280160"/>
          </a:xfrm>
          <a:prstGeom prst="roundRect">
            <a:avLst>
              <a:gd name="adj" fmla="val 5714"/>
            </a:avLst>
          </a:prstGeom>
          <a:solidFill>
            <a:srgbClr val="222B3D"/>
          </a:solidFill>
          <a:ln w="12700">
            <a:solidFill>
              <a:srgbClr val="313B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86600" y="1892808"/>
            <a:ext cx="173736" cy="173736"/>
          </a:xfrm>
          <a:prstGeom prst="ellipse">
            <a:avLst/>
          </a:prstGeom>
          <a:solidFill>
            <a:srgbClr val="B98AE8"/>
          </a:solidFill>
          <a:ln/>
        </p:spPr>
      </p:sp>
      <p:sp>
        <p:nvSpPr>
          <p:cNvPr id="8" name="Text 6"/>
          <p:cNvSpPr/>
          <p:nvPr/>
        </p:nvSpPr>
        <p:spPr>
          <a:xfrm>
            <a:off x="7379208" y="178308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8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79208" y="205740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MemPalace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79208" y="244144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decided &amp; learned, over time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692640" y="180136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E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12280" y="3044952"/>
            <a:ext cx="4709160" cy="1280160"/>
          </a:xfrm>
          <a:prstGeom prst="roundRect">
            <a:avLst>
              <a:gd name="adj" fmla="val 5714"/>
            </a:avLst>
          </a:prstGeom>
          <a:solidFill>
            <a:srgbClr val="222B3D"/>
          </a:solidFill>
          <a:ln w="12700">
            <a:solidFill>
              <a:srgbClr val="313B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86600" y="3337560"/>
            <a:ext cx="173736" cy="173736"/>
          </a:xfrm>
          <a:prstGeom prst="ellipse">
            <a:avLst/>
          </a:prstGeom>
          <a:solidFill>
            <a:srgbClr val="8AA0FF"/>
          </a:solidFill>
          <a:ln/>
        </p:spPr>
      </p:sp>
      <p:sp>
        <p:nvSpPr>
          <p:cNvPr id="14" name="Text 12"/>
          <p:cNvSpPr/>
          <p:nvPr/>
        </p:nvSpPr>
        <p:spPr>
          <a:xfrm>
            <a:off x="7379208" y="322783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GRAPH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79208" y="350215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Graphify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379208" y="388620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codebase actually connects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692640" y="324612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E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USING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12280" y="4489704"/>
            <a:ext cx="4709160" cy="1280160"/>
          </a:xfrm>
          <a:prstGeom prst="roundRect">
            <a:avLst>
              <a:gd name="adj" fmla="val 5714"/>
            </a:avLst>
          </a:prstGeom>
          <a:solidFill>
            <a:srgbClr val="222B3D"/>
          </a:solidFill>
          <a:ln w="12700">
            <a:solidFill>
              <a:srgbClr val="313B5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86600" y="4782312"/>
            <a:ext cx="173736" cy="173736"/>
          </a:xfrm>
          <a:prstGeom prst="ellipse">
            <a:avLst/>
          </a:prstGeom>
          <a:solidFill>
            <a:srgbClr val="9AA6BC"/>
          </a:solidFill>
          <a:ln/>
        </p:spPr>
      </p:sp>
      <p:sp>
        <p:nvSpPr>
          <p:cNvPr id="20" name="Text 18"/>
          <p:cNvSpPr/>
          <p:nvPr/>
        </p:nvSpPr>
        <p:spPr>
          <a:xfrm>
            <a:off x="7379208" y="4672584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79208" y="4946904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/ instructions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379208" y="533095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agent should behave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Graphify vs MemPalace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2070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5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LAYERS — NOT RIVALS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38928" cy="3246120"/>
          </a:xfrm>
          <a:prstGeom prst="roundRect">
            <a:avLst>
              <a:gd name="adj" fmla="val 2817"/>
            </a:avLst>
          </a:prstGeom>
          <a:solidFill>
            <a:srgbClr val="EAEDFA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14300" dist="38100" dir="5400000">
              <a:srgbClr val="8892A6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201168" cy="201168"/>
          </a:xfrm>
          <a:prstGeom prst="ellipse">
            <a:avLst/>
          </a:prstGeom>
          <a:solidFill>
            <a:srgbClr val="3B54C4"/>
          </a:solidFill>
          <a:ln/>
        </p:spPr>
      </p:sp>
      <p:sp>
        <p:nvSpPr>
          <p:cNvPr id="6" name="Text 4"/>
          <p:cNvSpPr/>
          <p:nvPr/>
        </p:nvSpPr>
        <p:spPr>
          <a:xfrm>
            <a:off x="1261872" y="2039112"/>
            <a:ext cx="31272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5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Graphify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950208" y="211226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3B5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USING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2743200"/>
            <a:ext cx="440740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6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your source code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6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Tree-sitter graph: files, functions, calls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6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 ·  ~71× fewer tokens / query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05840" y="4370832"/>
            <a:ext cx="4407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3B5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 “what connects to what?”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9944" y="1783080"/>
            <a:ext cx="5138928" cy="3246120"/>
          </a:xfrm>
          <a:prstGeom prst="roundRect">
            <a:avLst>
              <a:gd name="adj" fmla="val 2817"/>
            </a:avLst>
          </a:prstGeom>
          <a:solidFill>
            <a:srgbClr val="F2E9FB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14300" dist="38100" dir="5400000">
              <a:srgbClr val="8892A6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729984" y="2148840"/>
            <a:ext cx="201168" cy="201168"/>
          </a:xfrm>
          <a:prstGeom prst="ellipse">
            <a:avLst/>
          </a:prstGeom>
          <a:solidFill>
            <a:srgbClr val="6E2CB0"/>
          </a:solidFill>
          <a:ln/>
        </p:spPr>
      </p:sp>
      <p:sp>
        <p:nvSpPr>
          <p:cNvPr id="12" name="Text 10"/>
          <p:cNvSpPr/>
          <p:nvPr/>
        </p:nvSpPr>
        <p:spPr>
          <a:xfrm>
            <a:off x="7031736" y="2039112"/>
            <a:ext cx="31272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E2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MemPalace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720072" y="211226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E2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775704" y="2743200"/>
            <a:ext cx="440740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6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conversations &amp; decisions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6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Word-for-word, searchable, time-aware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6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 ·  MCP  ·  any agent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775704" y="4370832"/>
            <a:ext cx="4407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6E2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 “what did we decide, and why?”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257800"/>
            <a:ext cx="10908792" cy="1051560"/>
          </a:xfrm>
          <a:prstGeom prst="roundRect">
            <a:avLst>
              <a:gd name="adj" fmla="val 7826"/>
            </a:avLst>
          </a:prstGeom>
          <a:solidFill>
            <a:srgbClr val="161D2B"/>
          </a:solidFill>
          <a:ln/>
          <a:effectLst>
            <a:outerShdw sx="100000" sy="100000" kx="0" ky="0" algn="bl" rotWithShape="0" blurRad="114300" dist="38100" dir="5400000">
              <a:srgbClr val="8892A6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6112" y="538581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96112" y="5623560"/>
            <a:ext cx="1039672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ED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Graphify indexes the code. MemPalace remembers the conversation and the decisions. Neither replaces the other.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MemPalace is for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2070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5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 — STOP RE-EXPLAINING THE PROJECT EVERY SESSION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19856" cy="1783080"/>
          </a:xfrm>
          <a:prstGeom prst="roundRect">
            <a:avLst>
              <a:gd name="adj" fmla="val 5128"/>
            </a:avLst>
          </a:prstGeom>
          <a:solidFill>
            <a:srgbClr val="F2E9FB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14300" dist="38100" dir="5400000">
              <a:srgbClr val="8892A6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167128"/>
            <a:ext cx="31455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6E2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~170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77240" y="3108960"/>
            <a:ext cx="31455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5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startup*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84548" y="1874520"/>
            <a:ext cx="3419856" cy="1783080"/>
          </a:xfrm>
          <a:prstGeom prst="roundRect">
            <a:avLst>
              <a:gd name="adj" fmla="val 5128"/>
            </a:avLst>
          </a:prstGeom>
          <a:solidFill>
            <a:srgbClr val="F2E9FB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14300" dist="38100" dir="5400000">
              <a:srgbClr val="8892A6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21708" y="2167128"/>
            <a:ext cx="31455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6E2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~30×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21708" y="3108960"/>
            <a:ext cx="31455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5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compression*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29016" y="1874520"/>
            <a:ext cx="3419856" cy="1783080"/>
          </a:xfrm>
          <a:prstGeom prst="roundRect">
            <a:avLst>
              <a:gd name="adj" fmla="val 5128"/>
            </a:avLst>
          </a:prstGeom>
          <a:solidFill>
            <a:srgbClr val="EAEDFA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14300" dist="38100" dir="5400000">
              <a:srgbClr val="8892A6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66176" y="2167128"/>
            <a:ext cx="31455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B5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266176" y="3108960"/>
            <a:ext cx="31455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5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only what’s relevant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393192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loads:    </a:t>
            </a:r>
            <a:pPr indent="0" marL="0">
              <a:buNone/>
            </a:pPr>
            <a:r>
              <a:rPr lang="en-US" sz="1500" b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  <a:pPr indent="0" marL="0">
              <a:buNone/>
            </a:pPr>
            <a:r>
              <a:rPr lang="en-US" sz="1500" dirty="0">
                <a:solidFill>
                  <a:srgbClr val="16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all of it    ·    </a:t>
            </a:r>
            <a:pPr indent="0" marL="0">
              <a:buNone/>
            </a:pPr>
            <a:r>
              <a:rPr lang="en-US" sz="1500" b="1" dirty="0">
                <a:solidFill>
                  <a:srgbClr val="A56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local</a:t>
            </a:r>
            <a:pPr indent="0" marL="0">
              <a:buNone/>
            </a:pPr>
            <a:r>
              <a:rPr lang="en-US" sz="1500" dirty="0">
                <a:solidFill>
                  <a:srgbClr val="16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first 200 lines    ·    </a:t>
            </a:r>
            <a:pPr indent="0" marL="0">
              <a:buNone/>
            </a:pPr>
            <a:r>
              <a:rPr lang="en-US" sz="1500" b="1" dirty="0">
                <a:solidFill>
                  <a:srgbClr val="6E2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MemPalace</a:t>
            </a:r>
            <a:pPr indent="0" marL="0">
              <a:buNone/>
            </a:pPr>
            <a:r>
              <a:rPr lang="en-US" sz="1500" dirty="0">
                <a:solidFill>
                  <a:srgbClr val="16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by relevance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617720"/>
            <a:ext cx="10908792" cy="1234440"/>
          </a:xfrm>
          <a:prstGeom prst="roundRect">
            <a:avLst>
              <a:gd name="adj" fmla="val 6667"/>
            </a:avLst>
          </a:prstGeom>
          <a:solidFill>
            <a:srgbClr val="161D2B"/>
          </a:solidFill>
          <a:ln/>
          <a:effectLst>
            <a:outerShdw sx="100000" sy="100000" kx="0" ky="0" algn="bl" rotWithShape="0" blurRad="114300" dist="38100" dir="5400000">
              <a:srgbClr val="8892A6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6112" y="474573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96112" y="4983480"/>
            <a:ext cx="1039672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ED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Graphify cut tokens on the code; MemPalace cuts them on the history. The trick isn’t loading less — it’s loading by relevance and searching by meaning, so the right memory surfaces even when the history is huge.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40080" y="59893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5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vendor’s own published figures — verify on our workload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Copilot local memory &amp; instructions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2070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5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— BUT TWO CATEGORIES: RULES vs MEMORY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19856" cy="2788920"/>
          </a:xfrm>
          <a:prstGeom prst="roundRect">
            <a:avLst>
              <a:gd name="adj" fmla="val 3279"/>
            </a:avLst>
          </a:prstGeom>
          <a:solidFill>
            <a:srgbClr val="EBEDF1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14300" dist="38100" dir="5400000">
              <a:srgbClr val="8892A6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139696"/>
            <a:ext cx="173736" cy="173736"/>
          </a:xfrm>
          <a:prstGeom prst="ellipse">
            <a:avLst/>
          </a:prstGeom>
          <a:solidFill>
            <a:srgbClr val="5B6577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066544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395728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copilot-instructions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32688" y="2971800"/>
            <a:ext cx="28712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by hand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our CLAUDE.md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memory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84548" y="1828800"/>
            <a:ext cx="3419856" cy="2788920"/>
          </a:xfrm>
          <a:prstGeom prst="roundRect">
            <a:avLst>
              <a:gd name="adj" fmla="val 3279"/>
            </a:avLst>
          </a:prstGeom>
          <a:solidFill>
            <a:srgbClr val="F7EFD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14300" dist="38100" dir="5400000">
              <a:srgbClr val="8892A6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77156" y="2139696"/>
            <a:ext cx="173736" cy="173736"/>
          </a:xfrm>
          <a:prstGeom prst="ellipse">
            <a:avLst/>
          </a:prstGeom>
          <a:solidFill>
            <a:srgbClr val="A5680F"/>
          </a:solidFill>
          <a:ln/>
        </p:spPr>
      </p:sp>
      <p:sp>
        <p:nvSpPr>
          <p:cNvPr id="11" name="Text 9"/>
          <p:cNvSpPr/>
          <p:nvPr/>
        </p:nvSpPr>
        <p:spPr>
          <a:xfrm>
            <a:off x="4933188" y="2066544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56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58868" y="2395728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local memory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677156" y="2971800"/>
            <a:ext cx="28712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on your machine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 notes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first 200 lines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+ Copilot only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29016" y="1828800"/>
            <a:ext cx="3419856" cy="2788920"/>
          </a:xfrm>
          <a:prstGeom prst="roundRect">
            <a:avLst>
              <a:gd name="adj" fmla="val 3279"/>
            </a:avLst>
          </a:prstGeom>
          <a:solidFill>
            <a:srgbClr val="F2E9FB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14300" dist="38100" dir="5400000">
              <a:srgbClr val="8892A6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21624" y="2139696"/>
            <a:ext cx="173736" cy="173736"/>
          </a:xfrm>
          <a:prstGeom prst="ellipse">
            <a:avLst/>
          </a:prstGeom>
          <a:solidFill>
            <a:srgbClr val="6E2CB0"/>
          </a:solidFill>
          <a:ln/>
        </p:spPr>
      </p:sp>
      <p:sp>
        <p:nvSpPr>
          <p:cNvPr id="16" name="Text 14"/>
          <p:cNvSpPr/>
          <p:nvPr/>
        </p:nvSpPr>
        <p:spPr>
          <a:xfrm>
            <a:off x="8677656" y="2066544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2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03336" y="2395728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MemPalace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421624" y="2971800"/>
            <a:ext cx="28712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too — full text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by meaning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past a line cap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MCP agent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4773168"/>
            <a:ext cx="10908792" cy="987552"/>
          </a:xfrm>
          <a:prstGeom prst="roundRect">
            <a:avLst>
              <a:gd name="adj" fmla="val 8333"/>
            </a:avLst>
          </a:prstGeom>
          <a:solidFill>
            <a:srgbClr val="161D2B"/>
          </a:solidFill>
          <a:ln/>
          <a:effectLst>
            <a:outerShdw sx="100000" sy="100000" kx="0" ky="0" algn="bl" rotWithShape="0" blurRad="114300" dist="38100" dir="5400000">
              <a:srgbClr val="8892A6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96112" y="490118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96112" y="5138928"/>
            <a:ext cx="1039672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ED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keep notes locally — so this isn’t cloud vs local. The difference is recall: Copilot loads the first 200 lines of a text file; MemPalace searches memory by meaning, and any agent can use it.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40080" y="5870448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there’s also a separate cloud “Copilot Memory” (GitHub-hosted, auto-expires after 28 days) — not the one we run here.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honest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2070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5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CAVEATS THAT MAKE THE PITCH CREDIBLE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08792" cy="914400"/>
          </a:xfrm>
          <a:prstGeom prst="roundRect">
            <a:avLst>
              <a:gd name="adj" fmla="val 9000"/>
            </a:avLst>
          </a:prstGeom>
          <a:solidFill>
            <a:srgbClr val="F7EFDF"/>
          </a:solidFill>
          <a:ln w="12700">
            <a:solidFill>
              <a:srgbClr val="ECD9B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12264"/>
            <a:ext cx="347472" cy="347472"/>
          </a:xfrm>
          <a:prstGeom prst="ellipse">
            <a:avLst/>
          </a:prstGeom>
          <a:solidFill>
            <a:srgbClr val="A5680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84832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75104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are vendor claims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20640" y="1956816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6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analysis called them overstated — so benchmark on our own repo before believing the headline.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926080"/>
            <a:ext cx="10908792" cy="914400"/>
          </a:xfrm>
          <a:prstGeom prst="roundRect">
            <a:avLst>
              <a:gd name="adj" fmla="val 9000"/>
            </a:avLst>
          </a:prstGeom>
          <a:solidFill>
            <a:srgbClr val="F7EFDF"/>
          </a:solidFill>
          <a:ln w="12700">
            <a:solidFill>
              <a:srgbClr val="ECD9B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209544"/>
            <a:ext cx="347472" cy="347472"/>
          </a:xfrm>
          <a:prstGeom prst="ellipse">
            <a:avLst/>
          </a:prstGeom>
          <a:solidFill>
            <a:srgbClr val="A5680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182112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63040" y="3072384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LLM on the write path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20640" y="3054096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6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MemPalace classifies with regex/keywords: free &amp; offline, but no semantic extraction or gating.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10908792" cy="914400"/>
          </a:xfrm>
          <a:prstGeom prst="roundRect">
            <a:avLst>
              <a:gd name="adj" fmla="val 9000"/>
            </a:avLst>
          </a:prstGeom>
          <a:solidFill>
            <a:srgbClr val="F7EFDF"/>
          </a:solidFill>
          <a:ln w="12700">
            <a:solidFill>
              <a:srgbClr val="ECD9B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306824"/>
            <a:ext cx="347472" cy="347472"/>
          </a:xfrm>
          <a:prstGeom prst="ellipse">
            <a:avLst/>
          </a:prstGeom>
          <a:solidFill>
            <a:srgbClr val="A5680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279392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63040" y="4169664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Copilot its due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20640" y="4151376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6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citation re-check self-corrects against code drift; MemPalace relies on manual invalidation.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166360"/>
            <a:ext cx="10908792" cy="960120"/>
          </a:xfrm>
          <a:prstGeom prst="roundRect">
            <a:avLst>
              <a:gd name="adj" fmla="val 8571"/>
            </a:avLst>
          </a:prstGeom>
          <a:solidFill>
            <a:srgbClr val="161D2B"/>
          </a:solidFill>
          <a:ln/>
          <a:effectLst>
            <a:outerShdw sx="100000" sy="100000" kx="0" ky="0" algn="bl" rotWithShape="0" blurRad="114300" dist="38100" dir="5400000">
              <a:srgbClr val="8892A6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96112" y="529437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96112" y="5532120"/>
            <a:ext cx="1039672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ED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vendor benchmarks — let’s measure them on our own workload before we commit.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192024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8A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Graphify maps the code.
</a:t>
            </a:r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B98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MemPalace remembers the work.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3886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Together: less re-loading, fewer tokens, more shipping.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4892040"/>
            <a:ext cx="5852160" cy="868680"/>
          </a:xfrm>
          <a:prstGeom prst="roundRect">
            <a:avLst>
              <a:gd name="adj" fmla="val 9474"/>
            </a:avLst>
          </a:prstGeom>
          <a:solidFill>
            <a:srgbClr val="222B3D"/>
          </a:solidFill>
          <a:ln w="12700">
            <a:solidFill>
              <a:srgbClr val="313B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5074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53218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MemPalace on our own repo.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881360" y="6309360"/>
            <a:ext cx="146304" cy="146304"/>
          </a:xfrm>
          <a:prstGeom prst="ellipse">
            <a:avLst/>
          </a:prstGeom>
          <a:solidFill>
            <a:srgbClr val="8AA0FF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0" y="6309360"/>
            <a:ext cx="146304" cy="146304"/>
          </a:xfrm>
          <a:prstGeom prst="ellipse">
            <a:avLst/>
          </a:prstGeom>
          <a:solidFill>
            <a:srgbClr val="B98AE8"/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0" y="6309360"/>
            <a:ext cx="146304" cy="146304"/>
          </a:xfrm>
          <a:prstGeom prst="ellipse">
            <a:avLst/>
          </a:prstGeom>
          <a:solidFill>
            <a:srgbClr val="E0A94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MemPalace on top of Graphify</dc:title>
  <dc:subject>PptxGenJS Presentation</dc:subject>
  <dc:creator>Brownbag</dc:creator>
  <cp:lastModifiedBy>Brownbag</cp:lastModifiedBy>
  <cp:revision>1</cp:revision>
  <dcterms:created xsi:type="dcterms:W3CDTF">2026-08-11T03:02:32Z</dcterms:created>
  <dcterms:modified xsi:type="dcterms:W3CDTF">2026-08-11T03:02:32Z</dcterms:modified>
</cp:coreProperties>
</file>